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695" cy="6858000" type="screen4x3"/>
  <p:notesSz cx="12191695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D7AC3CCA-C797-4891-BE02-D94E43425B78}">
  <a:tblStyle styleId="{D7AC3CCA-C797-4891-BE02-D94E43425B78}" styleName="Medium Style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dk1">
              <a:tint val="20000"/>
            </a:scheme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731520" y="9144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1E1E"/>
                </a:solidFill>
                <a:latin typeface="Arial"/>
              </a:defRPr>
            </a:pPr>
            <a:r>
              <a:rPr/>
              <a:t>Менеджер паролей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777240" y="2057400"/>
            <a:ext cx="5056284" cy="210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Индивидуальный проект</a:t>
            </a:r>
            <a:endParaRPr/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endParaRPr/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Выполнил: Гудков Дмитрий Игоревич</a:t>
            </a:r>
            <a:endParaRPr/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Группа: РПО-25/5</a:t>
            </a:r>
            <a:endParaRPr/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endParaRPr/>
          </a:p>
          <a:p>
            <a:pPr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Москва, 2026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Паспорт проекта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2</a:t>
            </a:r>
            <a:endParaRPr/>
          </a:p>
        </p:txBody>
      </p:sp>
      <p:graphicFrame>
        <p:nvGraphicFramePr>
          <p:cNvPr id="6" name="Table 5"/>
          <p:cNvGraphicFramePr>
            <a:graphicFrameLocks xmlns:a="http://schemas.openxmlformats.org/drawingml/2006/main" noGrp="1"/>
          </p:cNvGraphicFramePr>
          <p:nvPr/>
        </p:nvGraphicFramePr>
        <p:xfrm>
          <a:off x="914400" y="1417320"/>
          <a:ext cx="10332720" cy="42062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{D7AC3CCA-C797-4891-BE02-D94E43425B78}</a:tableStyleId>
              </a:tblPr>
              <a:tblGrid>
                <a:gridCol w="5166360"/>
                <a:gridCol w="5166360"/>
              </a:tblGrid>
              <a:tr h="645160">
                <a:tc>
                  <a:txBody>
                    <a:bodyPr/>
                    <a:p>
                      <a:pPr>
                        <a:defRPr sz="19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Параметр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Содержание</a:t>
                      </a:r>
                      <a:endParaRPr/>
                    </a:p>
                  </a:txBody>
                  <a:tcPr/>
                </a:tc>
              </a:tr>
              <a:tr h="645160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Тип проекта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практико-ориентированный</a:t>
                      </a:r>
                      <a:endParaRPr/>
                    </a:p>
                  </a:txBody>
                  <a:tcPr/>
                </a:tc>
              </a:tr>
              <a:tr h="645160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Продукт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программа code.py</a:t>
                      </a:r>
                      <a:endParaRPr/>
                    </a:p>
                  </a:txBody>
                  <a:tcPr/>
                </a:tc>
              </a:tr>
              <a:tr h="645160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Целевая аудитория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студенты и пользователи ПК</a:t>
                      </a:r>
                      <a:endParaRPr/>
                    </a:p>
                  </a:txBody>
                  <a:tcPr/>
                </a:tc>
              </a:tr>
              <a:tr h="645160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Результат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рабочая программа, документация, презентация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Почему я выбрал эту тему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3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14400" y="1417320"/>
            <a:ext cx="10332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lnSpc>
                <a:spcPct val="105000"/>
              </a:lnSpc>
              <a:spcAft>
                <a:spcPts val="6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rPr/>
              <a:t>У пользователя часто много аккаунтов на разных сайтах.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rPr/>
              <a:t>Один пароль для всех сайтов использовать небезопасно.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rPr/>
              <a:t>Пароли в блокноте или обычном файле легко случайно открыть.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rPr/>
              <a:t>Поэтому я сделал простой локальный менеджер паролей.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Цель и задачи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4</a:t>
            </a:r>
            <a:endParaRPr/>
          </a:p>
        </p:txBody>
      </p:sp>
      <p:sp>
        <p:nvSpPr>
          <p:cNvPr id="6" name="Rounded Rectangle 5"/>
          <p:cNvSpPr/>
          <p:nvPr/>
        </p:nvSpPr>
        <p:spPr bwMode="auto">
          <a:xfrm>
            <a:off x="914400" y="1417320"/>
            <a:ext cx="10332720" cy="77724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2100">
                <a:solidFill>
                  <a:srgbClr val="1E1E1E"/>
                </a:solidFill>
                <a:latin typeface="Arial"/>
              </a:defRPr>
            </a:pPr>
            <a:r>
              <a:rPr/>
              <a:t>Цель: разработать настольное приложение для хранения записей с логинами и паролями.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143000" y="2468880"/>
            <a:ext cx="97840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посмотреть похожие программы;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выбрать инструменты разработки;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сделать простое окно программы;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добавить сохранение в JSON-файл;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добавить мастер-пароль и поиск;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проверить основные функции.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Что я посмотрел перед разработкой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5</a:t>
            </a:r>
            <a:endParaRPr/>
          </a:p>
        </p:txBody>
      </p:sp>
      <p:graphicFrame>
        <p:nvGraphicFramePr>
          <p:cNvPr id="6" name="Table 5"/>
          <p:cNvGraphicFramePr>
            <a:graphicFrameLocks xmlns:a="http://schemas.openxmlformats.org/drawingml/2006/main" noGrp="1"/>
          </p:cNvGraphicFramePr>
          <p:nvPr/>
        </p:nvGraphicFramePr>
        <p:xfrm>
          <a:off x="685800" y="1417320"/>
          <a:ext cx="10881360" cy="4480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{D7AC3CCA-C797-4891-BE02-D94E43425B78}</a:tableStyleId>
              </a:tblPr>
              <a:tblGrid>
                <a:gridCol w="3627120"/>
                <a:gridCol w="3627120"/>
                <a:gridCol w="3627120"/>
              </a:tblGrid>
              <a:tr h="896112">
                <a:tc>
                  <a:txBody>
                    <a:bodyPr/>
                    <a:p>
                      <a:pPr>
                        <a:defRPr sz="17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Аналог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Что заметил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Что взял для проекта</a:t>
                      </a:r>
                      <a:endParaRPr/>
                    </a:p>
                  </a:txBody>
                  <a:tcPr/>
                </a:tc>
              </a:tr>
              <a:tr h="896112"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KeePass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локальное хранение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идею работы без интернета</a:t>
                      </a:r>
                      <a:endParaRPr/>
                    </a:p>
                  </a:txBody>
                  <a:tcPr/>
                </a:tc>
              </a:tr>
              <a:tr h="896112"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Bitwarden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удобный доступ с разных устройств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не стал делать сервер</a:t>
                      </a:r>
                      <a:endParaRPr/>
                    </a:p>
                  </a:txBody>
                  <a:tcPr/>
                </a:tc>
              </a:tr>
              <a:tr h="896112"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Браузеры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быстро сохраняют пароли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мой вариант не зависит от браузера</a:t>
                      </a:r>
                      <a:endParaRPr/>
                    </a:p>
                  </a:txBody>
                  <a:tcPr/>
                </a:tc>
              </a:tr>
              <a:tr h="896112"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Мой проект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минимум функций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7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добавить, найти, изменить, удалить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Что использовал в программе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6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14400" y="1417320"/>
            <a:ext cx="10241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1E1E1E"/>
                </a:solidFill>
                <a:latin typeface="Arial"/>
              </a:defRPr>
            </a:pPr>
            <a:r>
              <a:rPr/>
              <a:t>Python — основной язык программы.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1E1E1E"/>
                </a:solidFill>
                <a:latin typeface="Arial"/>
              </a:defRPr>
            </a:pPr>
            <a:r>
              <a:rPr/>
              <a:t>tkinter и ttk — графический интерфейс.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1E1E1E"/>
                </a:solidFill>
                <a:latin typeface="Arial"/>
              </a:defRPr>
            </a:pPr>
            <a:r>
              <a:rPr/>
              <a:t>JSON — хранение записей в локальном файле.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1E1E1E"/>
                </a:solidFill>
                <a:latin typeface="Arial"/>
              </a:defRPr>
            </a:pPr>
            <a:r>
              <a:rPr/>
              <a:t>hashlib и hmac — проверка мастер-пароля.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1E1E1E"/>
                </a:solidFill>
                <a:latin typeface="Arial"/>
              </a:defRPr>
            </a:pPr>
            <a:r>
              <a:rPr/>
              <a:t>secrets — генерация случайного пароля.</a:t>
            </a:r>
            <a:endParaRPr/>
          </a:p>
        </p:txBody>
      </p:sp>
      <p:sp>
        <p:nvSpPr>
          <p:cNvPr id="7" name="Rounded Rectangle 6"/>
          <p:cNvSpPr/>
          <p:nvPr/>
        </p:nvSpPr>
        <p:spPr bwMode="auto">
          <a:xfrm>
            <a:off x="914400" y="5486400"/>
            <a:ext cx="10241280" cy="50292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2000">
                <a:solidFill>
                  <a:srgbClr val="1E1E1E"/>
                </a:solidFill>
                <a:latin typeface="Arial"/>
              </a:defRPr>
            </a:pPr>
            <a:r>
              <a:rPr/>
              <a:t>Все модули входят в стандартную библиотеку Python.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Структура данных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7</a:t>
            </a:r>
            <a:endParaRPr/>
          </a:p>
        </p:txBody>
      </p:sp>
      <p:graphicFrame>
        <p:nvGraphicFramePr>
          <p:cNvPr id="6" name="Table 5"/>
          <p:cNvGraphicFramePr>
            <a:graphicFrameLocks xmlns:a="http://schemas.openxmlformats.org/drawingml/2006/main" noGrp="1"/>
          </p:cNvGraphicFramePr>
          <p:nvPr/>
        </p:nvGraphicFramePr>
        <p:xfrm>
          <a:off x="822960" y="1371600"/>
          <a:ext cx="4572000" cy="48463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{D7AC3CCA-C797-4891-BE02-D94E43425B78}</a:tableStyleId>
              </a:tblPr>
              <a:tblGrid>
                <a:gridCol w="2286000"/>
                <a:gridCol w="2286000"/>
              </a:tblGrid>
              <a:tr h="692331">
                <a:tc>
                  <a:txBody>
                    <a:bodyPr/>
                    <a:p>
                      <a:pPr>
                        <a:defRPr sz="19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Поле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Значение</a:t>
                      </a:r>
                      <a:endParaRPr/>
                    </a:p>
                  </a:txBody>
                  <a:tcPr/>
                </a:tc>
              </a:tr>
              <a:tr h="692331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id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номер записи</a:t>
                      </a:r>
                      <a:endParaRPr/>
                    </a:p>
                  </a:txBody>
                  <a:tcPr/>
                </a:tc>
              </a:tr>
              <a:tr h="692331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site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сайт или сервис</a:t>
                      </a:r>
                      <a:endParaRPr/>
                    </a:p>
                  </a:txBody>
                  <a:tcPr/>
                </a:tc>
              </a:tr>
              <a:tr h="692331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login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логин пользователя</a:t>
                      </a:r>
                      <a:endParaRPr/>
                    </a:p>
                  </a:txBody>
                  <a:tcPr/>
                </a:tc>
              </a:tr>
              <a:tr h="692331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password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пароль</a:t>
                      </a:r>
                      <a:endParaRPr/>
                    </a:p>
                  </a:txBody>
                  <a:tcPr/>
                </a:tc>
              </a:tr>
              <a:tr h="692331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category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категория записи</a:t>
                      </a:r>
                      <a:endParaRPr/>
                    </a:p>
                  </a:txBody>
                  <a:tcPr/>
                </a:tc>
              </a:tr>
              <a:tr h="692334"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note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заметка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 bwMode="auto">
          <a:xfrm>
            <a:off x="5852160" y="1554480"/>
            <a:ext cx="5212080" cy="118872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2100">
                <a:solidFill>
                  <a:srgbClr val="1E1E1E"/>
                </a:solidFill>
                <a:latin typeface="Arial"/>
              </a:defRPr>
            </a:pPr>
            <a:r>
              <a:rPr/>
              <a:t>В программе записи находятся в списке self.items. Одна запись — это словарь Python.</a:t>
            </a:r>
            <a:endParaRPr/>
          </a:p>
        </p:txBody>
      </p:sp>
      <p:sp>
        <p:nvSpPr>
          <p:cNvPr id="8" name="Rounded Rectangle 7"/>
          <p:cNvSpPr/>
          <p:nvPr/>
        </p:nvSpPr>
        <p:spPr bwMode="auto">
          <a:xfrm>
            <a:off x="5852160" y="3063240"/>
            <a:ext cx="5212080" cy="141732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2100">
                <a:solidFill>
                  <a:srgbClr val="1E1E1E"/>
                </a:solidFill>
                <a:latin typeface="Arial"/>
              </a:defRPr>
            </a:pPr>
            <a:r>
              <a:rPr/>
              <a:t>Перед сохранением текстовые поля преобразуются, поэтому пароль не лежит в JSON как обычный текст.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-15087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Как работает программа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8</a:t>
            </a:r>
            <a:endParaRPr/>
          </a:p>
        </p:txBody>
      </p:sp>
      <p:sp>
        <p:nvSpPr>
          <p:cNvPr id="6" name="Rounded Rectangle 5"/>
          <p:cNvSpPr/>
          <p:nvPr/>
        </p:nvSpPr>
        <p:spPr bwMode="auto">
          <a:xfrm>
            <a:off x="914400" y="1874519"/>
            <a:ext cx="1874519" cy="114300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>
                <a:solidFill>
                  <a:srgbClr val="1E1E1E"/>
                </a:solidFill>
                <a:latin typeface="Arial"/>
              </a:defRPr>
            </a:pPr>
            <a:r>
              <a:rPr/>
              <a:t>1. Ввод</a:t>
            </a:r>
            <a:endParaRPr/>
          </a:p>
          <a:p>
            <a:pPr algn="ctr">
              <a:defRPr sz="1800">
                <a:solidFill>
                  <a:srgbClr val="1E1E1E"/>
                </a:solidFill>
                <a:latin typeface="Arial"/>
              </a:defRPr>
            </a:pPr>
            <a:r>
              <a:rPr/>
              <a:t>мастер-пароля</a:t>
            </a:r>
            <a:endParaRPr/>
          </a:p>
        </p:txBody>
      </p:sp>
      <p:sp>
        <p:nvSpPr>
          <p:cNvPr id="8" name="Rounded Rectangle 7"/>
          <p:cNvSpPr/>
          <p:nvPr/>
        </p:nvSpPr>
        <p:spPr bwMode="auto">
          <a:xfrm>
            <a:off x="3127248" y="1874519"/>
            <a:ext cx="1874519" cy="114300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>
                <a:solidFill>
                  <a:srgbClr val="1E1E1E"/>
                </a:solidFill>
                <a:latin typeface="Arial"/>
              </a:defRPr>
            </a:pPr>
            <a:r>
              <a:rPr/>
              <a:t>2. Открытие JSON-файла</a:t>
            </a:r>
            <a:endParaRPr/>
          </a:p>
        </p:txBody>
      </p:sp>
      <p:sp>
        <p:nvSpPr>
          <p:cNvPr id="10" name="Rounded Rectangle 9"/>
          <p:cNvSpPr/>
          <p:nvPr/>
        </p:nvSpPr>
        <p:spPr bwMode="auto">
          <a:xfrm>
            <a:off x="5340096" y="1874519"/>
            <a:ext cx="1874519" cy="114300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>
                <a:solidFill>
                  <a:srgbClr val="1E1E1E"/>
                </a:solidFill>
                <a:latin typeface="Arial"/>
              </a:defRPr>
            </a:pPr>
            <a:r>
              <a:rPr/>
              <a:t>3. Добавление записи</a:t>
            </a:r>
            <a:endParaRPr/>
          </a:p>
        </p:txBody>
      </p:sp>
      <p:sp>
        <p:nvSpPr>
          <p:cNvPr id="12" name="Rounded Rectangle 11"/>
          <p:cNvSpPr/>
          <p:nvPr/>
        </p:nvSpPr>
        <p:spPr bwMode="auto">
          <a:xfrm>
            <a:off x="7552944" y="1874519"/>
            <a:ext cx="1874519" cy="114300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>
                <a:solidFill>
                  <a:srgbClr val="1E1E1E"/>
                </a:solidFill>
                <a:latin typeface="Arial"/>
              </a:defRPr>
            </a:pPr>
            <a:r>
              <a:rPr/>
              <a:t>4. Сохранение данных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9765792" y="1874519"/>
            <a:ext cx="1874519" cy="114300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800">
                <a:solidFill>
                  <a:srgbClr val="1E1E1E"/>
                </a:solidFill>
                <a:latin typeface="Arial"/>
              </a:defRPr>
            </a:pPr>
            <a:r>
              <a:rPr/>
              <a:t>5. Поиск или изменение записи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960120" y="388620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rPr/>
              <a:t>Если файл passwords_data.json отсутствует, создается новое хранилище.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rPr/>
              <a:t>Если пароль неверный, главное окно не открывается.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1E1E1E"/>
                </a:solidFill>
                <a:latin typeface="Arial"/>
              </a:defRPr>
            </a:pPr>
            <a:r>
              <a:rPr/>
              <a:t>После добавления или удаления таблица обновляется через refresh_table.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Интерфейс программы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9</a:t>
            </a:r>
            <a:endParaRPr/>
          </a:p>
        </p:txBody>
      </p:sp>
      <p:pic>
        <p:nvPicPr>
          <p:cNvPr id="6" name="Picture 5" descr="app_screenshot_treeview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85800" y="1325880"/>
            <a:ext cx="6675120" cy="4338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7635240" y="160020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1E1E1E"/>
                </a:solidFill>
                <a:latin typeface="Arial"/>
              </a:defRPr>
            </a:pPr>
            <a:r>
              <a:rPr/>
              <a:t>Слева — таблица записей.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1E1E1E"/>
                </a:solidFill>
                <a:latin typeface="Arial"/>
              </a:defRPr>
            </a:pPr>
            <a:r>
              <a:rPr/>
              <a:t>Справа — форма для ввода.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1E1E1E"/>
                </a:solidFill>
                <a:latin typeface="Arial"/>
              </a:defRPr>
            </a:pPr>
            <a:r>
              <a:rPr/>
              <a:t>Вверху — поиск.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1E1E1E"/>
                </a:solidFill>
                <a:latin typeface="Arial"/>
              </a:defRPr>
            </a:pPr>
            <a:r>
              <a:rPr/>
              <a:t>Дизайн простой, без лишних эффектов.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Тестирование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10</a:t>
            </a:r>
            <a:endParaRPr/>
          </a:p>
        </p:txBody>
      </p:sp>
      <p:graphicFrame>
        <p:nvGraphicFramePr>
          <p:cNvPr id="6" name="Table 5"/>
          <p:cNvGraphicFramePr>
            <a:graphicFrameLocks xmlns:a="http://schemas.openxmlformats.org/drawingml/2006/main" noGrp="1"/>
          </p:cNvGraphicFramePr>
          <p:nvPr/>
        </p:nvGraphicFramePr>
        <p:xfrm>
          <a:off x="914400" y="1371600"/>
          <a:ext cx="10332720" cy="39319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{D7AC3CCA-C797-4891-BE02-D94E43425B78}</a:tableStyleId>
              </a:tblPr>
              <a:tblGrid>
                <a:gridCol w="5166360"/>
                <a:gridCol w="5166360"/>
              </a:tblGrid>
              <a:tr h="655320">
                <a:tc>
                  <a:txBody>
                    <a:bodyPr/>
                    <a:p>
                      <a:pPr>
                        <a:defRPr sz="20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Что проверял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20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Результат</a:t>
                      </a:r>
                      <a:endParaRPr/>
                    </a:p>
                  </a:txBody>
                  <a:tcPr/>
                </a:tc>
              </a:tr>
              <a:tr h="655320"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первый запуск и мастер-пароль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работает</a:t>
                      </a:r>
                      <a:endParaRPr/>
                    </a:p>
                  </a:txBody>
                  <a:tcPr/>
                </a:tc>
              </a:tr>
              <a:tr h="655320"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добавление записи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работает</a:t>
                      </a:r>
                      <a:endParaRPr/>
                    </a:p>
                  </a:txBody>
                  <a:tcPr/>
                </a:tc>
              </a:tr>
              <a:tr h="655320"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изменение и удаление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работает</a:t>
                      </a:r>
                      <a:endParaRPr/>
                    </a:p>
                  </a:txBody>
                  <a:tcPr/>
                </a:tc>
              </a:tr>
              <a:tr h="655320"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поиск по таблице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работает</a:t>
                      </a:r>
                      <a:endParaRPr/>
                    </a:p>
                  </a:txBody>
                  <a:tcPr/>
                </a:tc>
              </a:tr>
              <a:tr h="655320"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генерация пароля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20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/>
                        <a:t>работает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 bwMode="auto">
          <a:xfrm>
            <a:off x="914400" y="5577840"/>
            <a:ext cx="10332720" cy="50292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900">
                <a:solidFill>
                  <a:srgbClr val="1E1E1E"/>
                </a:solidFill>
                <a:latin typeface="Arial"/>
              </a:defRPr>
            </a:pPr>
            <a:r>
              <a:rPr/>
              <a:t>Проверял на тестовых данных, настоящие пароли для демонстрации не использовал.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Что пришлось переделывать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11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14400" y="141732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Сначала хотел сохранять данные обычным JSON-файлом.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Потом увидел, что такой файл открывается в блокноте и все видно.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Добавил мастер-пароль и преобразование строк перед записью.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Таблица сначала не обновлялась после добавления записи.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1E1E1E"/>
                </a:solidFill>
                <a:latin typeface="Arial"/>
              </a:defRPr>
            </a:pPr>
            <a:r>
              <a:rPr/>
              <a:t>Пришлось отдельно вызывать refresh_table после действий пользователя.</a:t>
            </a:r>
            <a:endParaRPr/>
          </a:p>
        </p:txBody>
      </p:sp>
      <p:sp>
        <p:nvSpPr>
          <p:cNvPr id="7" name="Rounded Rectangle 6"/>
          <p:cNvSpPr/>
          <p:nvPr/>
        </p:nvSpPr>
        <p:spPr bwMode="auto">
          <a:xfrm>
            <a:off x="914400" y="5532120"/>
            <a:ext cx="10332720" cy="594360"/>
          </a:xfrm>
          <a:prstGeom prst="roundRect">
            <a:avLst>
              <a:gd name="adj" fmla="val 16667"/>
            </a:avLst>
          </a:prstGeom>
          <a:noFill/>
          <a:ln w="9525" cap="flat" cmpd="sng" algn="ctr">
            <a:solidFill>
              <a:schemeClr val="tx1">
                <a:alpha val="99999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900">
                <a:solidFill>
                  <a:srgbClr val="1E1E1E"/>
                </a:solidFill>
                <a:latin typeface="Arial"/>
              </a:defRPr>
            </a:pPr>
            <a:r>
              <a:rPr/>
              <a:t>Этот слайд показывает реальный ход работы, а не только готовый результат.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  <a:latin typeface="Arial"/>
              </a:defRPr>
            </a:pPr>
            <a:r>
              <a:rPr/>
              <a:t>Результат и источники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108813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rPr/>
              <a:t>12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731520" y="13258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171450"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rPr/>
              <a:t>Итог: создана рабочая программа «Менеджер паролей».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rPr/>
              <a:t>Файлы проекта: код, пояснительная записка, презентация, инструкция запуска.</a:t>
            </a:r>
            <a:endParaRPr/>
          </a:p>
          <a:p>
            <a:pPr marL="342900" indent="-171450"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1E1E1E"/>
                </a:solidFill>
                <a:latin typeface="Arial"/>
              </a:defRPr>
            </a:pPr>
            <a:r>
              <a:rPr/>
              <a:t>Дальше можно добавить импорт/экспорт, очистку буфера обмена и более сильное шифрование.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777240" y="3520440"/>
            <a:ext cx="4961712" cy="123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700">
                <a:solidFill>
                  <a:srgbClr val="1E1E1E"/>
                </a:solidFill>
                <a:latin typeface="Arial"/>
              </a:defRPr>
            </a:pPr>
            <a:r>
              <a:rPr/>
              <a:t>Источники: Лутц М. «Изучаем Python»</a:t>
            </a:r>
            <a:endParaRPr/>
          </a:p>
          <a:p>
            <a:pPr>
              <a:lnSpc>
                <a:spcPct val="110000"/>
              </a:lnSpc>
              <a:defRPr sz="1700">
                <a:solidFill>
                  <a:srgbClr val="1E1E1E"/>
                </a:solidFill>
                <a:latin typeface="Arial"/>
              </a:defRPr>
            </a:pPr>
            <a:r>
              <a:rPr/>
              <a:t>; Прохоренок Н. А. «Python 3 и PyQt 6»</a:t>
            </a:r>
            <a:endParaRPr/>
          </a:p>
          <a:p>
            <a:pPr>
              <a:lnSpc>
                <a:spcPct val="110000"/>
              </a:lnSpc>
              <a:defRPr sz="1700">
                <a:solidFill>
                  <a:srgbClr val="1E1E1E"/>
                </a:solidFill>
                <a:latin typeface="Arial"/>
              </a:defRPr>
            </a:pPr>
            <a:r>
              <a:rPr/>
              <a:t>; Столлингс В. «Криптография и защита сетей»</a:t>
            </a:r>
            <a:endParaRPr/>
          </a:p>
          <a:p>
            <a:pPr>
              <a:lnSpc>
                <a:spcPct val="110000"/>
              </a:lnSpc>
              <a:defRPr sz="1700">
                <a:solidFill>
                  <a:srgbClr val="1E1E1E"/>
                </a:solidFill>
                <a:latin typeface="Arial"/>
              </a:defRPr>
            </a:pPr>
            <a:r>
              <a:rPr/>
              <a:t>; документация Python; документация tkinter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056326" y="5806440"/>
            <a:ext cx="4140666" cy="518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6091"/>
                </a:solidFill>
                <a:latin typeface="Arial"/>
              </a:defRPr>
            </a:pPr>
            <a:r>
              <a:rPr>
                <a:solidFill>
                  <a:schemeClr val="tx1"/>
                </a:solidFill>
              </a:rPr>
              <a:t>Спасибо за внимание!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>Дима Гудков</cp:lastModifiedBy>
  <cp:revision>2</cp:revision>
  <dcterms:created xsi:type="dcterms:W3CDTF">2013-01-27T09:14:16Z</dcterms:created>
  <dcterms:modified xsi:type="dcterms:W3CDTF">2026-06-25T02:54:25Z</dcterms:modified>
  <cp:category/>
  <cp:contentStatus/>
  <cp:version/>
</cp:coreProperties>
</file>